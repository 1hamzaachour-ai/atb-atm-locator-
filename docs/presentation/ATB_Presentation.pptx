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2818" cy="685800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74152" y="-13716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731520"/>
            <a:ext cx="2011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832"/>
                </a:solidFill>
                <a:latin typeface="Calibri"/>
              </a:rPr>
              <a:t>ATB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498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0F21"/>
                </a:solidFill>
                <a:latin typeface="Calibri"/>
              </a:rPr>
              <a:t>Arab Tunisian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Banque Mobile</a:t>
            </a:r>
          </a:p>
          <a:p>
            <a:pPr algn="l"/>
            <a:r>
              <a:rPr sz="5200" b="1">
                <a:solidFill>
                  <a:srgbClr val="E8C97A"/>
                </a:solidFill>
                <a:latin typeface="Calibri"/>
              </a:rPr>
              <a:t>Nouvelle Ère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Une application bancaire complète pour les clients ATB —
DABs en temps réel, assistant IA en Derja,
et gestion de cartes intuitive.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1874519" cy="38404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6817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📍  Carte des DABs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4663440"/>
            <a:ext cx="1874519" cy="38404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46817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🤖  Assistant 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4663440"/>
            <a:ext cx="1874519" cy="38404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46817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💳  Cartes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4663440"/>
            <a:ext cx="1874519" cy="38404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46817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🔔  Notifications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14400"/>
            <a:ext cx="1645920" cy="4754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1371600"/>
            <a:ext cx="1463040" cy="384048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41080" y="1554480"/>
            <a:ext cx="118872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1783080"/>
            <a:ext cx="11887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1965960"/>
            <a:ext cx="11887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228600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41080" y="3017520"/>
            <a:ext cx="11887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3200400"/>
            <a:ext cx="11887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0" y="1188720"/>
            <a:ext cx="1645920" cy="4206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32720" y="1600200"/>
            <a:ext cx="1463040" cy="338328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01 /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📊  Résumé Exécutif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08792" y="2743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ATB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VISION DU PROJET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27048"/>
            <a:ext cx="329184" cy="32918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49047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Application 100% Flutter — une seule base de code Android &amp; iOS,
réduisant les coûts de développement de 40%.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85416"/>
            <a:ext cx="329184" cy="32918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1488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Cartographie temps réel des DABs ATB via OpenStreetMap —
aucune dépendance à une API payante.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43784"/>
            <a:ext cx="329184" cy="32918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25496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80720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Assistant IA multilingue (Darija · Français · Anglais)
propulsé par Groq LLaMA, réponses en moins de 500ms.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329184" cy="32918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83864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6557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Gestion complète des cartes bancaires avec alertes sécurité,
limites et historique des transactions.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42232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12394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Architecture modulaire prête pour l'intégration
avec les APIs backend ATB.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097280"/>
            <a:ext cx="5212080" cy="5394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CHIFFRES CLÉS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508760"/>
            <a:ext cx="48463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600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1832"/>
                </a:solidFill>
                <a:latin typeface="Calibri"/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581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1832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1673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Écrans principaux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313432"/>
            <a:ext cx="48463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240487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1832"/>
                </a:solidFill>
                <a:latin typeface="Calibri"/>
              </a:rPr>
              <a:t>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386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1832"/>
                </a:solidFill>
                <a:latin typeface="Calibri"/>
              </a:rPr>
              <a:t>20+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478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DABs pré-chargés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118104"/>
            <a:ext cx="48463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2095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1832"/>
                </a:solidFill>
                <a:latin typeface="Calibri"/>
              </a:rP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191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1832"/>
                </a:solidFill>
                <a:latin typeface="Calibri"/>
              </a:rPr>
              <a:t>&lt;500ms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Temps réponse 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922776"/>
            <a:ext cx="48463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401421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1832"/>
                </a:solidFill>
                <a:latin typeface="Calibri"/>
              </a:rPr>
              <a:t>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995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1832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4087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Langues supportées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4846320"/>
            <a:ext cx="4846320" cy="128016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4846320"/>
            <a:ext cx="54864" cy="1280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49834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"Une expérience bancaire moderne, pensée pour
le client tunisien — rapide, intelligente et accessible."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02 /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FONCTIONNALITÉS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Ce que fait l'application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566160" cy="173736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54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Carte des DABs en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Localisation GPS en temps réel. Markers colorés ouvert/fermé, filtres dépôt et retrait sans carte.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41732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527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1554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Assistant IA · Derja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0116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Chatbot LLaMA 3.1 via Groq. Répond en tunisien, français ou anglais selon l'utilisateur.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6" y="141732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527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56" y="1554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Gestion des Cartes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0116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Carousel VISA/Mastercard, sécurité, limites de retrait et historique complet.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19272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5643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Messages &amp; Alertes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1363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Centre de notifications bancaires groupées par date. Filtres Banque · Sécurité · Contacts.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3319272"/>
            <a:ext cx="3566160" cy="173736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345643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Sécurité Avancée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91363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Blocage de carte instantané, alertes de connexion suspecte et authentification biométrique.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6" y="3319272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🗺️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345643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Itinéraire Intégré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391363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Ouverture directe dans Google Maps depuis la fiche DAB. Distance calculée en temps réel.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03 /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48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97A"/>
                </a:solidFill>
                <a:latin typeface="Calibri"/>
              </a:rPr>
              <a:t>FONCTIONNALITÉ PHARE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Carte des
DABs ATB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Trouvez instantanément le distributeur le plus
proche, avec filtres en temps réel et navigation intégrée.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461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Données OpenStreetMap (gratuit)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6576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Filtres : Ouvert · Dépôt · Sans carte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0690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Marker sélectionné avec carte infos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480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Itinéraire Google Maps en 1 clic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8920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Position GPS de l'utilisateur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3035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20+ DABs pré-chargés (fallback)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20040"/>
            <a:ext cx="7223760" cy="5029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828800"/>
            <a:ext cx="72237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200400"/>
            <a:ext cx="72237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320040"/>
            <a:ext cx="10972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320040"/>
            <a:ext cx="10972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901952"/>
            <a:ext cx="365760" cy="36576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2304288"/>
            <a:ext cx="10058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3134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1832"/>
                </a:solidFill>
                <a:latin typeface="Calibri"/>
              </a:rPr>
              <a:t>ATB Marine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170432"/>
            <a:ext cx="3657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1572768"/>
            <a:ext cx="10058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15819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1832"/>
                </a:solidFill>
                <a:latin typeface="Calibri"/>
              </a:rPr>
              <a:t>ATB Lac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199" y="3273552"/>
            <a:ext cx="36576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59" y="3675888"/>
            <a:ext cx="10058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79" y="36850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1832"/>
                </a:solidFill>
                <a:latin typeface="Calibri"/>
              </a:rPr>
              <a:t>BIAT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359152"/>
            <a:ext cx="3657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2761488"/>
            <a:ext cx="10058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7706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1832"/>
                </a:solidFill>
                <a:latin typeface="Calibri"/>
              </a:rPr>
              <a:t>STB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286000"/>
            <a:ext cx="201168" cy="2011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5486400"/>
            <a:ext cx="72237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5486400"/>
            <a:ext cx="7223760" cy="36576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60" y="5623560"/>
            <a:ext cx="548640" cy="5486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1832"/>
                </a:solidFill>
                <a:latin typeface="Calibri"/>
              </a:rPr>
              <a:t>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5650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Agence Tunis Marine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Avenue Habib Bourguiba, Tunis  ·  Dépôt ✓  ·  24/7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715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8B1832"/>
                </a:solidFill>
                <a:latin typeface="Calibri"/>
              </a:rPr>
              <a:t>320m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04 /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INTELLIGENCE ARTIFICIELLE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Assistant Tunisien
Propulsé par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Le premier chatbot bancaire tunisien qui comprend la Darija,
le français et l'anglais — et mélange les trois naturellement.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358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832"/>
                </a:solidFill>
                <a:latin typeface="Calibri"/>
              </a:rPr>
              <a:t>🇹🇳  Derja Tounsia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017520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30358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🇫🇷  Français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017520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0358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🇬🇧 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📍  Localisation du DAB le plus proche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507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🕐  Vérification des horaires d'ouverture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970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💳  Aide au blocage de carte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28616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💰  Info commissions &amp; limites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752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⚡  Réponses en moins de 500ms (Groq)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2880"/>
            <a:ext cx="5394960" cy="6492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82880"/>
            <a:ext cx="5394960" cy="86868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2880"/>
            <a:ext cx="73152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292608"/>
            <a:ext cx="566928" cy="56692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560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5603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Assistance IA · ATB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5669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🟢  En ligne pour vous aider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1234440"/>
            <a:ext cx="3200400" cy="34747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289304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Aslema! Ana assistant ATB. Kifesh naaounek lyoum? 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1764792"/>
            <a:ext cx="3200400" cy="347472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1819656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Feen el DAB el akreb m3a service dépôt?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295144"/>
            <a:ext cx="3200400" cy="603504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350008"/>
            <a:ext cx="30358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Barra! "Agence Tunis Marine" 320m men andek 3andha
module dépôt. Maftouha 08h-18h. 📍 Tħeb l'itinéraire?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081528"/>
            <a:ext cx="3200400" cy="347472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13639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Ouiii, merci barra!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3611880"/>
            <a:ext cx="3200400" cy="34747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666744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Afw! Baraka Lahu fik 🙏 Navigation lancée vers l'agence.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6080760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6080760"/>
            <a:ext cx="5394960" cy="365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6153912"/>
            <a:ext cx="4114800" cy="4114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61904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Posez votre question...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16768" y="6153912"/>
            <a:ext cx="411480" cy="41148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16768" y="61539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05 /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GESTION BANCAIRE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Mes Cartes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74720" cy="201168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5727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**** **** **** 7891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474720" cy="201168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6400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**** **** **** 4242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SAMI BEN 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12/26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097280"/>
            <a:ext cx="3657600" cy="132588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8B1832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26187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Paiement 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6916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Paiements NFC et QR code depuis votre smartphone.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097280"/>
            <a:ext cx="3657600" cy="132588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8B1832"/>
                </a:solidFill>
                <a:latin typeface="Calibri"/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26187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Sécurité Cartes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6916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Blocage instantané, alertes fraude et 2FA.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560320"/>
            <a:ext cx="3657600" cy="132588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8B1832"/>
                </a:solidFill>
                <a:latin typeface="Calibri"/>
              </a:rPr>
              <a:t>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72491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Historique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15468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Toutes vos transactions classées et filtrables.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560320"/>
            <a:ext cx="3657600" cy="132588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8B1832"/>
                </a:solidFill>
                <a:latin typeface="Calibri"/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72491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Limites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15468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Contrôle des plafonds de retrait et de paiement.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06 /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97A"/>
                </a:solidFill>
                <a:latin typeface="Calibri"/>
              </a:rP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Stack Technologique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2560320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Flutter 3.44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Framework UI cross-platform.
Un code, Android + iOS.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20440"/>
            <a:ext cx="1371600" cy="29260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95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97A"/>
                </a:solidFill>
                <a:latin typeface="Calibri"/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2697480" cy="2560320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371600"/>
            <a:ext cx="26974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94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Flutter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51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Tuiles OpenStreetMap.
Aucune API key. Gratuit illimité.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520440"/>
            <a:ext cx="1371600" cy="29260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5295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97A"/>
                </a:solidFill>
                <a:latin typeface="Calibri"/>
              </a:rPr>
              <a:t>Cartographie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2697480" cy="2560320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371600"/>
            <a:ext cx="26974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194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Groq + LLaMA 3.1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51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Inférence ultra-rapide.
Réponses en &lt;500ms. API gratuite.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520440"/>
            <a:ext cx="1371600" cy="29260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295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97A"/>
                </a:solidFill>
                <a:latin typeface="Calibri"/>
              </a:rPr>
              <a:t>IA · Gratuit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371600"/>
            <a:ext cx="2697480" cy="2560320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371600"/>
            <a:ext cx="26974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194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Overpass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51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Récupération des DABs réels
depuis OpenStreetMap.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3520440"/>
            <a:ext cx="1371600" cy="292608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5295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97A"/>
                </a:solidFill>
                <a:latin typeface="Calibri"/>
              </a:rPr>
              <a:t>Données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06240"/>
            <a:ext cx="1554480" cy="475488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2611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📱 App Flutter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0552" y="42793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C97A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87752" y="4206240"/>
            <a:ext cx="1554480" cy="475488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33472" y="42611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🌐 HTTP / 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4" y="42793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C97A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2584" y="4206240"/>
            <a:ext cx="1554480" cy="475488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42611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🤖 Groq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42793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C97A"/>
                </a:solidFill>
                <a:latin typeface="Calibri"/>
              </a:rPr>
              <a:t>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57416" y="4206240"/>
            <a:ext cx="1554480" cy="475488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3136" y="42611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🗺️ Overpass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8" y="42793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C97A"/>
                </a:solidFill>
                <a:latin typeface="Calibri"/>
              </a:rPr>
              <a:t>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42248" y="4206240"/>
            <a:ext cx="1554480" cy="475488"/>
          </a:xfrm>
          <a:prstGeom prst="rect">
            <a:avLst/>
          </a:prstGeom>
          <a:solidFill>
            <a:srgbClr val="400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87968" y="42611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📍 GPS Device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07 /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PERFORMANCE &amp; PORTÉE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Chiffres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5486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B1832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Écrans principaux
entièrement fonctionnels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5486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B1832"/>
                </a:solidFill>
                <a:latin typeface="Calibri"/>
              </a:rP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DABs ATB &amp; autres
banques pré-chargés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2697480" cy="5486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B183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Langues : Derja,
Français, Anglais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2697480" cy="54864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600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B1832"/>
                </a:solidFill>
                <a:latin typeface="Calibri"/>
              </a:rPr>
              <a:t>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Coût API maps
&amp; chatbot (gratuit)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57600"/>
            <a:ext cx="3520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6732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Fonctionnalités complètes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1832"/>
                </a:solidFill>
                <a:latin typeface="Calibri"/>
              </a:rPr>
              <a:t>95%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15968"/>
            <a:ext cx="3264408" cy="12801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315968"/>
            <a:ext cx="3101187" cy="128016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3657600"/>
            <a:ext cx="3520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76732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Performance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1832"/>
                </a:solidFill>
                <a:latin typeface="Calibri"/>
              </a:rPr>
              <a:t>90%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315968"/>
            <a:ext cx="3264408" cy="12801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315968"/>
            <a:ext cx="2937967" cy="128016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3657600"/>
            <a:ext cx="3520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376732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Couverture DABs Tunis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1832"/>
                </a:solidFill>
                <a:latin typeface="Calibri"/>
              </a:rPr>
              <a:t>80%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315968"/>
            <a:ext cx="3264408" cy="12801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315968"/>
            <a:ext cx="2611526" cy="128016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08 /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ÉVOLUTION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Roadmap de Développement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64792"/>
            <a:ext cx="45720" cy="128016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075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Phase 1 · Complété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544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Infrastructure &amp; Core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27048"/>
            <a:ext cx="1371600" cy="274320"/>
          </a:xfrm>
          <a:prstGeom prst="rect">
            <a:avLst/>
          </a:prstGeom>
          <a:solidFill>
            <a:srgbClr val="F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5453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1832"/>
                </a:solidFill>
                <a:latin typeface="Calibri"/>
              </a:rPr>
              <a:t>Navigation 5 onglets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99248" y="1527048"/>
            <a:ext cx="1371600" cy="274320"/>
          </a:xfrm>
          <a:prstGeom prst="rect">
            <a:avLst/>
          </a:prstGeom>
          <a:solidFill>
            <a:srgbClr val="F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5453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1832"/>
                </a:solidFill>
                <a:latin typeface="Calibri"/>
              </a:rPr>
              <a:t>Thème ATB burgundy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576" y="1527048"/>
            <a:ext cx="1371600" cy="274320"/>
          </a:xfrm>
          <a:prstGeom prst="rect">
            <a:avLst/>
          </a:prstGeom>
          <a:solidFill>
            <a:srgbClr val="F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15453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1832"/>
                </a:solidFill>
                <a:latin typeface="Calibri"/>
              </a:rPr>
              <a:t>Modèles de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61904" y="1527048"/>
            <a:ext cx="1371600" cy="274320"/>
          </a:xfrm>
          <a:prstGeom prst="rect">
            <a:avLst/>
          </a:prstGeom>
          <a:solidFill>
            <a:srgbClr val="F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35056" y="15453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1832"/>
                </a:solidFill>
                <a:latin typeface="Calibri"/>
              </a:rPr>
              <a:t>Android permissions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36392"/>
            <a:ext cx="45720" cy="128016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697480"/>
            <a:ext cx="438912" cy="438912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6791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Phase 2 · Complété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926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Carte DABs &amp; Assistant 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98648"/>
            <a:ext cx="1371600" cy="274320"/>
          </a:xfrm>
          <a:prstGeom prst="rect">
            <a:avLst/>
          </a:prstGeom>
          <a:solidFill>
            <a:srgbClr val="F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9169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1832"/>
                </a:solidFill>
                <a:latin typeface="Calibri"/>
              </a:rPr>
              <a:t>Flutter Map + OSM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9248" y="2898648"/>
            <a:ext cx="1371600" cy="274320"/>
          </a:xfrm>
          <a:prstGeom prst="rect">
            <a:avLst/>
          </a:prstGeom>
          <a:solidFill>
            <a:srgbClr val="F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9169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1832"/>
                </a:solidFill>
                <a:latin typeface="Calibri"/>
              </a:rPr>
              <a:t>Overpass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0576" y="2898648"/>
            <a:ext cx="1371600" cy="274320"/>
          </a:xfrm>
          <a:prstGeom prst="rect">
            <a:avLst/>
          </a:prstGeom>
          <a:solidFill>
            <a:srgbClr val="F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29169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1832"/>
                </a:solidFill>
                <a:latin typeface="Calibri"/>
              </a:rPr>
              <a:t>Chatbot Groq LLaMA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1904" y="2898648"/>
            <a:ext cx="1371600" cy="274320"/>
          </a:xfrm>
          <a:prstGeom prst="rect">
            <a:avLst/>
          </a:prstGeom>
          <a:solidFill>
            <a:srgbClr val="F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35056" y="29169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1832"/>
                </a:solidFill>
                <a:latin typeface="Calibri"/>
              </a:rPr>
              <a:t>Icône personnalisée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507992"/>
            <a:ext cx="45720" cy="128016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069080"/>
            <a:ext cx="438912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0690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0507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Phase 3 · En cours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297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Optimisation &amp; Polish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270248"/>
            <a:ext cx="1371600" cy="27432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42885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5C00"/>
                </a:solidFill>
                <a:latin typeface="Calibri"/>
              </a:rPr>
              <a:t>Tests utilisateurs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9248" y="4270248"/>
            <a:ext cx="1371600" cy="27432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42885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5C00"/>
                </a:solidFill>
                <a:latin typeface="Calibri"/>
              </a:rPr>
              <a:t>Animations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4270248"/>
            <a:ext cx="1371600" cy="27432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53728" y="42885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5C00"/>
                </a:solidFill>
                <a:latin typeface="Calibri"/>
              </a:rPr>
              <a:t>Biométrie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61904" y="4270248"/>
            <a:ext cx="1371600" cy="27432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35056" y="42885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5C00"/>
                </a:solidFill>
                <a:latin typeface="Calibri"/>
              </a:rPr>
              <a:t>Mode hors-ligne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5879592"/>
            <a:ext cx="45720" cy="12801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440680"/>
            <a:ext cx="438912" cy="43891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4406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4223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832"/>
                </a:solidFill>
                <a:latin typeface="Calibri"/>
              </a:rPr>
              <a:t>Phase 4 · Prévu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669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Intégration Backend ATB &amp; Production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641848"/>
            <a:ext cx="1371600" cy="274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56601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API bancaire réelle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99248" y="5641848"/>
            <a:ext cx="1371600" cy="274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56601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Paiements en ligne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0576" y="5641848"/>
            <a:ext cx="1371600" cy="274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53728" y="56601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Play Store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61904" y="5641848"/>
            <a:ext cx="1371600" cy="274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35056" y="56601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Analytics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09 / 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0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45836" y="822960"/>
            <a:ext cx="1097280" cy="1097280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45836" y="107899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ATB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Merci.</a:t>
            </a:r>
          </a:p>
          <a:p>
            <a:pPr algn="ctr"/>
            <a:r>
              <a:rPr sz="5200" b="1">
                <a:solidFill>
                  <a:srgbClr val="E8C97A"/>
                </a:solidFill>
                <a:latin typeface="Calibri"/>
              </a:rPr>
              <a:t>Baraka Lahu Fik.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77639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  <a:latin typeface="Calibri"/>
              </a:rPr>
              <a:t>L'application ATB Mobile est prête — moderne, intelligente,
et pensée pour chaque client tunisien.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937760"/>
            <a:ext cx="2286000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97433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0F21"/>
                </a:solidFill>
                <a:latin typeface="Calibri"/>
              </a:rPr>
              <a:t>▶  Voir la Démo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4937760"/>
            <a:ext cx="2286000" cy="502920"/>
          </a:xfrm>
          <a:prstGeom prst="rect">
            <a:avLst/>
          </a:prstGeom>
          <a:solidFill>
            <a:srgbClr val="6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497433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{ }  Code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✉️  1hamza.achour@gmail.com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🐦  Flutter 3.44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📅  Juin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  <a:latin typeface="Calibri"/>
              </a:rPr>
              <a:t>ATB MOBILE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